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231F"/>
                    </a:solidFill>
                    <a:latin typeface="Arial"/>
                  </a:defRPr>
                </a:pPr>
                <a:endParaRPr lang="en-S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70.33</c:v>
                </c:pt>
                <c:pt idx="1">
                  <c:v>76.33</c:v>
                </c:pt>
                <c:pt idx="2">
                  <c:v>75.69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E-4786-A4E2-8F0B21B46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D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83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322C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E322C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5" name="Image 0" descr="images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2778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MENTAL HEALTH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29260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379476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Machine Learning and NLP to support early mental-health risk awareness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55368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E322C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5536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07128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E322C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712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58888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E322C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888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Academic Project  •  Built with Python, Scikit-learn, NLTK &amp; Streamlit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EA4644-EFA1-D387-A4AB-24B35319A0A8}"/>
              </a:ext>
            </a:extLst>
          </p:cNvPr>
          <p:cNvSpPr txBox="1"/>
          <p:nvPr/>
        </p:nvSpPr>
        <p:spPr>
          <a:xfrm>
            <a:off x="2079763" y="5544830"/>
            <a:ext cx="8505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SUBMITTED BY: RITUSREE BANERJEE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struggles often go unnoticed until they become severe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experience a mental health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every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63440" y="30632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seek treatment due to stigma,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or lack of 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9659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549640" y="30632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tools can encourage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support-seeking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E322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892040"/>
            <a:ext cx="868680" cy="86868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5" name="Image 0" descr="image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33" y="5087493"/>
            <a:ext cx="477774" cy="4777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4754880"/>
            <a:ext cx="9418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accessible AI tool that combines a structured questionnaire with a user's own words, giving a fuller, more natural picture of mental wellbeing — without replacing professional care.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Three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system that reasons from both structured answers and free-form text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286000"/>
            <a:ext cx="1005840" cy="100584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6" name="Image 0" descr="images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2512314"/>
            <a:ext cx="553212" cy="553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Questionnaire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lifestyle &amp; behavioral questions feed a trained classifier that predicts likelihood of needing treatment.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286000"/>
            <a:ext cx="1005840" cy="100584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1" name="Image 1" descr="images/icon_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174" y="2512314"/>
            <a:ext cx="553212" cy="5532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Journal Analysis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9776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write freely about how they feel; VADER sentiment analysis detects their current mood.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9659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6231F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2286000"/>
            <a:ext cx="1005840" cy="100584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16" name="Image 2" descr="images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374" y="2512314"/>
            <a:ext cx="553212" cy="5532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Score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86800" y="39776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are merged into one Low / Moderate / High risk indicator for a fuller picture.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large-scale mental health survey dataset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21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292,365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538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record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956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survey-style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4920" y="2011680"/>
            <a:ext cx="6537960" cy="4251960"/>
          </a:xfrm>
          <a:prstGeom prst="roundRect">
            <a:avLst>
              <a:gd name="adj" fmla="val 2581"/>
            </a:avLst>
          </a:prstGeom>
          <a:solidFill>
            <a:srgbClr val="1E322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743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Country, Occupation, Self-employed status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of mental illness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spent indoors, Growing stress, Changes in habits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history, Mood swings, Coping struggles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interest, Social weakness / withdrawal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comfort, Awareness of care options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(Yes / No)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survey data to a deployable trained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331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Encode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36576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label-encode all categorical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4620" y="3794760"/>
            <a:ext cx="0" cy="914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2148840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2331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71800" y="29718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71800" y="36576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split, stratified on the target variable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3188" y="3794760"/>
            <a:ext cx="0" cy="914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2148840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30368" y="2331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30368" y="29718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3 Models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30368" y="36576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91756" y="3794760"/>
            <a:ext cx="0" cy="914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4344" y="2148840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331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88936" y="29718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Compare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88936" y="36576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precision/recall, train-vs-test overfit check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50324" y="3794760"/>
            <a:ext cx="0" cy="914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2148840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47504" y="23317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47504" y="29718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Best Model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47504" y="36576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 + encoders as .pkl for the web 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accuracy across three trained classifiers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1E322C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965960"/>
            <a:ext cx="822960" cy="82296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7" name="Image 0" descr="images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326" y="215112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13816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138160" y="3749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76.33%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1381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13816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 accuracy stayed close, showing the model generalizes well rather than overfitting.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Module — Journal Sentiment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dataset has no free text, users' own words add a natural-language signal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6" name="Image 0" descr="images/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23797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 Sentiment Analyzer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rule-based NLTK model scores free text on a compound sentiment scale — no internet call needed at runtime, ideal for a free Streamlit deployment.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input:
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feeling very tired, also feel depressed."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mood:  </a:t>
            </a:r>
            <a:r>
              <a:rPr lang="en-US" sz="130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Negative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89320" y="1920240"/>
            <a:ext cx="5623560" cy="4297680"/>
          </a:xfrm>
          <a:prstGeom prst="roundRect">
            <a:avLst>
              <a:gd name="adj" fmla="val 2553"/>
            </a:avLst>
          </a:prstGeom>
          <a:solidFill>
            <a:srgbClr val="1E322C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5-Level Mood Scale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309360" y="26974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C1554D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26974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Negative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9360" y="33832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D97A6C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3832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09360" y="40690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5B6B65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40690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309360" y="47548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69A297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4754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309360" y="54406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4C9A78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5440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Positive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 merge into a single actionable risk level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5080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6" name="Image 0" descr="images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6128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2606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0" y="2286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69A29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468880"/>
            <a:ext cx="640080" cy="64008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2" name="Image 1" descr="images/icon_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618" y="26128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Mood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NLP score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2440" y="2697480"/>
            <a:ext cx="502920" cy="731520"/>
          </a:xfrm>
          <a:prstGeom prst="chevron">
            <a:avLst/>
          </a:prstGeom>
          <a:solidFill>
            <a:srgbClr val="50808E"/>
          </a:solidFill>
          <a:ln/>
        </p:spPr>
      </p:sp>
      <p:sp>
        <p:nvSpPr>
          <p:cNvPr id="16" name="Shape 12"/>
          <p:cNvSpPr/>
          <p:nvPr/>
        </p:nvSpPr>
        <p:spPr>
          <a:xfrm>
            <a:off x="8869680" y="2148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E322C"/>
          </a:solidFill>
          <a:ln/>
        </p:spPr>
      </p:sp>
      <p:sp>
        <p:nvSpPr>
          <p:cNvPr id="17" name="Text 13"/>
          <p:cNvSpPr/>
          <p:nvPr/>
        </p:nvSpPr>
        <p:spPr>
          <a:xfrm>
            <a:off x="90525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00684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/ MODERATE / HIGH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4434840"/>
            <a:ext cx="201168" cy="777240"/>
          </a:xfrm>
          <a:prstGeom prst="roundRect">
            <a:avLst/>
          </a:prstGeom>
          <a:solidFill>
            <a:srgbClr val="C1554D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960" y="44348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1051560" y="4434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566160" y="4434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says Yes  AND  journal mood is Negative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349240"/>
            <a:ext cx="201168" cy="777240"/>
          </a:xfrm>
          <a:prstGeom prst="roundRect">
            <a:avLst/>
          </a:prstGeom>
          <a:solidFill>
            <a:srgbClr val="D98E4A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" y="53492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1051560" y="5349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3566160" y="5349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says Yes  OR  journal mood is Negative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8640" y="6263640"/>
            <a:ext cx="201168" cy="777240"/>
          </a:xfrm>
          <a:prstGeom prst="roundRect">
            <a:avLst/>
          </a:prstGeom>
          <a:solidFill>
            <a:srgbClr val="4C9A78"/>
          </a:solidFill>
          <a:ln/>
        </p:spPr>
      </p:sp>
      <p:sp>
        <p:nvSpPr>
          <p:cNvPr id="28" name="Shape 24"/>
          <p:cNvSpPr/>
          <p:nvPr/>
        </p:nvSpPr>
        <p:spPr>
          <a:xfrm>
            <a:off x="822960" y="62636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1051560" y="6263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566160" y="6263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signal indicates concern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Answer the Questionnaire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answer 15 short lifestyle &amp; behavioral questions — gender, occupation, stress levels, mood swings, coping ability, and more.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55264"/>
            <a:ext cx="109728" cy="109728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90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dropdown-based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58184"/>
            <a:ext cx="109728" cy="109728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935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Streamlit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61104"/>
            <a:ext cx="109728" cy="109728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the trained ML model</a:t>
            </a:r>
            <a:endParaRPr lang="en-US" sz="1300" dirty="0"/>
          </a:p>
        </p:txBody>
      </p:sp>
      <p:pic>
        <p:nvPicPr>
          <p:cNvPr id="11" name="Image 0" descr="images/framed_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635633"/>
            <a:ext cx="5120640" cy="5586733"/>
          </a:xfrm>
          <a:prstGeom prst="rect">
            <a:avLst/>
          </a:prstGeom>
          <a:effectLst>
            <a:outerShdw blurRad="177800" dist="76200" dir="540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framed_s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4011"/>
            <a:ext cx="5120640" cy="4929978"/>
          </a:xfrm>
          <a:prstGeom prst="rect">
            <a:avLst/>
          </a:prstGeom>
          <a:effectLst>
            <a:outerShdw blurRad="177800" dist="762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30936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ML Prediction Result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309360" y="1600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submitted, the trained classifier predicts whether the respondent is likely to need mental health treatment or support.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09360" y="292608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1E322C"/>
          </a:solidFill>
          <a:ln w="12700">
            <a:solidFill>
              <a:srgbClr val="4C9A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29260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prediction: </a:t>
            </a:r>
            <a:r>
              <a:rPr lang="en-US" sz="1400" b="1" dirty="0">
                <a:solidFill>
                  <a:srgbClr val="4C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likely to need treatment/support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Journal Entry (NLP)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writes freely about how they feel. VADER breaks the text into negative, neutral, and positive components and returns a compound mood score.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E32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feeling very tired, also feel depressed."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mood:  </a:t>
            </a:r>
            <a:r>
              <a:rPr lang="en-US" sz="1350" b="1" dirty="0">
                <a:solidFill>
                  <a:srgbClr val="C1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Negative</a:t>
            </a:r>
            <a:endParaRPr lang="en-US" sz="1350" dirty="0"/>
          </a:p>
        </p:txBody>
      </p:sp>
      <p:pic>
        <p:nvPicPr>
          <p:cNvPr id="8" name="Image 0" descr="images/framed_s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985618"/>
            <a:ext cx="5120640" cy="4886765"/>
          </a:xfrm>
          <a:prstGeom prst="rect">
            <a:avLst/>
          </a:prstGeom>
          <a:effectLst>
            <a:outerShdw blurRad="177800" dist="76200" dir="540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framed_s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93235"/>
            <a:ext cx="5394960" cy="3871529"/>
          </a:xfrm>
          <a:prstGeom prst="rect">
            <a:avLst/>
          </a:prstGeom>
          <a:effectLst>
            <a:outerShdw blurRad="177800" dist="762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583680" y="411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0" y="731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Combined Risk Result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0" y="1737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 prediction and journal mood are merged into one overall risk level, with supportive guidance shown to the user.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583680" y="292608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E322C"/>
          </a:solidFill>
          <a:ln w="12700">
            <a:solidFill>
              <a:srgbClr val="D98E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risk level:  </a:t>
            </a:r>
            <a:r>
              <a:rPr lang="en-US" sz="16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0" y="3657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7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an eye on how you're feeling, and consider talking to someone you trust.”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Colab notebook to a live public web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6" name="Image 0" descr="images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182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14884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1" name="Image 1" descr="images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3134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182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965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214884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6" name="Image 2" descr="images/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23134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VADER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3182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965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2680" y="214884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21" name="Image 3" descr="images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23134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52560" y="3182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UI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1E322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Flow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1668780" y="461772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27" name="Image 4" descr="images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72" y="478231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5440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0120" y="5742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model, save .pkl files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200400" y="4434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4320540" y="461772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32" name="Image 5" descr="images/icon_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132" y="478231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20440" y="5440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611880" y="5742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app.py, requirements &amp; model files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852160" y="4434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28"/>
          <p:cNvSpPr/>
          <p:nvPr/>
        </p:nvSpPr>
        <p:spPr>
          <a:xfrm>
            <a:off x="6972300" y="461772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37" name="Image 6" descr="images/icon_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892" y="4782312"/>
            <a:ext cx="402336" cy="40233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72200" y="5440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263640" y="5742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&amp; deploys from repo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8503920" y="4434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1" name="Shape 32"/>
          <p:cNvSpPr/>
          <p:nvPr/>
        </p:nvSpPr>
        <p:spPr>
          <a:xfrm>
            <a:off x="9624060" y="4617720"/>
            <a:ext cx="731520" cy="7315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42" name="Image 7" descr="images/icon_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8652" y="4782312"/>
            <a:ext cx="402336" cy="40233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823960" y="5440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8915400" y="5742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URL, anyone can use 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grow next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6" name="Image 0" descr="images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23945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k-fold cross-validation for more statistically robust model comparison.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1" name="Image 1" descr="images/icon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3945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NLP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1520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a transformer-based emotion classifier for finer-grained mood detection.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89120"/>
            <a:ext cx="685800" cy="68580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6" name="Image 2" descr="images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" y="454342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61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History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754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dashboard so returning users can track their mood trends over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6231F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389120"/>
            <a:ext cx="685800" cy="68580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21" name="Image 3" descr="images/icon_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454342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61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15200" y="4754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journal sentiment analysis to support multiple languages.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322C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E322C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5" name="Image 0" descr="image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1658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2971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Mental Health Monitoring System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863</Words>
  <Application>Microsoft Office PowerPoint</Application>
  <PresentationFormat>Widescreen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Ritusree Banerjee04</cp:lastModifiedBy>
  <cp:revision>2</cp:revision>
  <dcterms:created xsi:type="dcterms:W3CDTF">2026-07-17T17:44:59Z</dcterms:created>
  <dcterms:modified xsi:type="dcterms:W3CDTF">2026-07-17T17:53:10Z</dcterms:modified>
</cp:coreProperties>
</file>